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data analytics is optional, but a thoughtful data path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should be specific and inspectable, not a generic list of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ending should synthesize learning, not just say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01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F4E79"/>
                </a:solidFill>
              </a:defRPr>
            </a:pPr>
            <a:r>
              <a:rPr sz="2625" b="1">
                <a:solidFill>
                  <a:srgbClr val="1F4E79"/>
                </a:solidFill>
              </a:rPr>
              <a:t>CSA15 Cloud Computing and Big Data Analytics</a:t>
            </a:r>
            <a:endParaRPr sz="2625" b="1">
              <a:solidFill>
                <a:srgbClr val="1F4E7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23900" y="215265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F6690"/>
                </a:solidFill>
              </a:defRPr>
            </a:pPr>
            <a:r>
              <a:rPr sz="2250" b="1">
                <a:solidFill>
                  <a:srgbClr val="2F6690"/>
                </a:solidFill>
              </a:rPr>
              <a:t>Capstone Cloud Technical Presentation</a:t>
            </a:r>
            <a:endParaRPr sz="2250" b="1">
              <a:solidFill>
                <a:srgbClr val="2F6690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27622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Individual Student Presentation Deck</a:t>
            </a:r>
            <a:endParaRPr sz="1725" b="0">
              <a:solidFill>
                <a:srgbClr val="334155"/>
              </a:solidFill>
            </a:endParaRPr>
          </a:p>
        </p:txBody>
      </p:sp>
      <p:sp>
        <p:nvSpPr>
          <p:cNvPr id="10" name="Presenter Details-panel"/>
          <p:cNvSpPr>
            <a:spLocks noGrp="1"/>
          </p:cNvSpPr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Presenter Details-bar"/>
          <p:cNvSpPr>
            <a:spLocks noGrp="1"/>
          </p:cNvSpPr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Presenter Details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696200" y="1733550"/>
            <a:ext cx="337185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Student Name:</a:t>
            </a:r>
            <a:r>
              <a:rPr lang="en-US" sz="1350" b="0">
                <a:solidFill>
                  <a:srgbClr val="172033"/>
                </a:solidFill>
              </a:rPr>
              <a:t>RAHIMA BANU N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Register Number:</a:t>
            </a:r>
            <a:r>
              <a:rPr lang="en-US" sz="1350" b="0">
                <a:solidFill>
                  <a:srgbClr val="172033"/>
                </a:solidFill>
              </a:rPr>
              <a:t>192525009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Class / Section / Slot:</a:t>
            </a:r>
            <a:r>
              <a:rPr lang="en-US" sz="1350" b="0">
                <a:solidFill>
                  <a:srgbClr val="172033"/>
                </a:solidFill>
              </a:rPr>
              <a:t> B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Capstone Title:</a:t>
            </a:r>
            <a:r>
              <a:rPr lang="en-IN" sz="1350" b="0">
                <a:solidFill>
                  <a:srgbClr val="172033"/>
                </a:solidFill>
              </a:rPr>
              <a:t> </a:t>
            </a:r>
            <a:r>
              <a:rPr lang="en-US" altLang="en-US" sz="1350" b="0">
                <a:solidFill>
                  <a:srgbClr val="172033"/>
                </a:solidFill>
              </a:rPr>
              <a:t>CareRoute Cloud Ambulance Dispatch Optimizer Using ETA and Severity Analytics</a:t>
            </a:r>
            <a:endParaRPr lang="en-US" altLang="en-US"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Selected SDG Goal(s):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SDG 3 – Good Health and Well-being</a:t>
            </a:r>
            <a:endParaRPr lang="en-US" altLang="en-US"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Cloud Platform / Tools: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  Google Cloud Platform (GCP)</a:t>
            </a:r>
            <a:endParaRPr lang="en-US" altLang="en-US"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  Google Maps Platform </a:t>
            </a:r>
            <a:endParaRPr lang="en-US" altLang="en-US" sz="1350" b="0">
              <a:solidFill>
                <a:srgbClr val="172033"/>
              </a:solidFill>
            </a:endParaRPr>
          </a:p>
        </p:txBody>
      </p:sp>
      <p:sp>
        <p:nvSpPr>
          <p:cNvPr id="14" name="Presentation Focus-panel"/>
          <p:cNvSpPr>
            <a:spLocks noGrp="1"/>
          </p:cNvSpPr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Presentation Focus-bar"/>
          <p:cNvSpPr>
            <a:spLocks noGrp="1"/>
          </p:cNvSpPr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Focus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95350" y="4305300"/>
            <a:ext cx="584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Present your capstone as a cloud-backed product. Explain the problem, architecture, service choices, evidence, and CO1 learning clearly.</a:t>
            </a:r>
            <a:endParaRPr sz="142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Problem Context and Stakeholder Mapping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capstone begins with a real problem to solve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Problem Statement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1225" y="212407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Ambulances are often dispatched without considering both patient severity and real-time traffic, causing delays in emergency care.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Target Users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11900" y="213233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Emergency dispatch centers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Ambulance drivers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Hospitals &amp; emergency patients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SDG Fit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76300" y="37528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SDG 3 – Good Health and Well-being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Improve emergency response and save lives through faster ambulance dispatch.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Boundary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11900" y="37528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ETA prediction using live traffic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Patient severity prioritization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• Optimal ambulance assignment &amp; route recommendation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03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Adoption Rationale and Concept Map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problem needs cloud support to become a usable product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Cloud Definition-panel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Cloud Definition-bar"/>
          <p:cNvSpPr>
            <a:spLocks noGrp="1"/>
          </p:cNvSpPr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95350" y="17907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Definition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39470" y="21907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Cloud computing delivers computing resources (servers, storage, databases, and applications) over the internet, enabling scalable and on-demand services.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Cloud Characteristics-panel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Cloud Characteristics-bar"/>
          <p:cNvSpPr>
            <a:spLocks noGrp="1"/>
          </p:cNvSpPr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95350" y="335724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Characteristics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39470" y="361950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Elasticity: Auto-adjusts resources.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Scalability: Handles growing users.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Measured Service: Pay for actual usage.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Resource Pooling: Shared cloud resources.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Cloud Concept Map-placeholder"/>
          <p:cNvSpPr>
            <a:spLocks noGrp="1"/>
          </p:cNvSpPr>
          <p:nvPr/>
        </p:nvSpPr>
        <p:spPr>
          <a:xfrm>
            <a:off x="6134100" y="1600200"/>
            <a:ext cx="5564505" cy="353822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240145" y="1680210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Cloud Concept Map</a:t>
            </a:r>
            <a:endParaRPr sz="1500" b="1">
              <a:solidFill>
                <a:srgbClr val="1F4E79"/>
              </a:solidFill>
            </a:endParaRPr>
          </a:p>
        </p:txBody>
      </p:sp>
      <p:pic>
        <p:nvPicPr>
          <p:cNvPr id="22" name="Picture 21" descr="CO1_AT2_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0" y="1967865"/>
            <a:ext cx="4479290" cy="3160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04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Capstone Cloud Architecture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cloud architecture connects the user action to services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node-User App / Web App"/>
          <p:cNvSpPr>
            <a:spLocks noGrp="1"/>
          </p:cNvSpPr>
          <p:nvPr/>
        </p:nvSpPr>
        <p:spPr>
          <a:xfrm>
            <a:off x="104775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1123950" y="213233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Hospital / Dispatcher / Ambulance App</a:t>
            </a: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1" name="node-Auth + API Gateway"/>
          <p:cNvSpPr>
            <a:spLocks noGrp="1"/>
          </p:cNvSpPr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Rectangle 11"/>
          <p:cNvSpPr>
            <a:spLocks noGrp="1"/>
          </p:cNvSpPr>
          <p:nvPr/>
        </p:nvSpPr>
        <p:spPr>
          <a:xfrm>
            <a:off x="3590925" y="220980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      Google Maps API + Firebase Auth</a:t>
            </a:r>
            <a:endParaRPr lang="en-US" altLang="en-US" sz="1350" b="1">
              <a:solidFill>
                <a:srgbClr val="1F4E79"/>
              </a:solidFill>
            </a:endParaRPr>
          </a:p>
          <a:p>
            <a:pPr algn="ctr">
              <a:defRPr sz="1350" b="1">
                <a:solidFill>
                  <a:srgbClr val="1F4E79"/>
                </a:solidFill>
              </a:defRPr>
            </a:pP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3" name="node-Backend Services"/>
          <p:cNvSpPr>
            <a:spLocks noGrp="1"/>
          </p:cNvSpPr>
          <p:nvPr/>
        </p:nvSpPr>
        <p:spPr>
          <a:xfrm>
            <a:off x="590550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 13"/>
          <p:cNvSpPr>
            <a:spLocks noGrp="1"/>
          </p:cNvSpPr>
          <p:nvPr/>
        </p:nvSpPr>
        <p:spPr>
          <a:xfrm>
            <a:off x="5962650" y="219075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      Analytics &amp; Monitoring Dashboard</a:t>
            </a: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5" name="node-Database / Storage"/>
          <p:cNvSpPr>
            <a:spLocks noGrp="1"/>
          </p:cNvSpPr>
          <p:nvPr/>
        </p:nvSpPr>
        <p:spPr>
          <a:xfrm>
            <a:off x="833437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8399780" y="234315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      Cloud Firestore / Cloud Storage</a:t>
            </a:r>
            <a:endParaRPr lang="en-US" altLang="en-US" sz="1350" b="1">
              <a:solidFill>
                <a:srgbClr val="1F4E79"/>
              </a:solidFill>
            </a:endParaRPr>
          </a:p>
          <a:p>
            <a:pPr algn="ctr">
              <a:defRPr sz="1350" b="1">
                <a:solidFill>
                  <a:srgbClr val="1F4E79"/>
                </a:solidFill>
              </a:defRPr>
            </a:pP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7" name="node-Analytics + Monitoring"/>
          <p:cNvSpPr>
            <a:spLocks noGrp="1"/>
          </p:cNvSpPr>
          <p:nvPr/>
        </p:nvSpPr>
        <p:spPr>
          <a:xfrm>
            <a:off x="5905500" y="37147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Rectangle 17"/>
          <p:cNvSpPr>
            <a:spLocks noGrp="1"/>
          </p:cNvSpPr>
          <p:nvPr/>
        </p:nvSpPr>
        <p:spPr>
          <a:xfrm>
            <a:off x="6019800" y="395287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Analytics + Monitoring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19" name="connector-0"/>
          <p:cNvSpPr>
            <a:spLocks noGrp="1"/>
          </p:cNvSpPr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0" name="connector-1"/>
          <p:cNvSpPr>
            <a:spLocks noGrp="1"/>
          </p:cNvSpPr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1" name="connector-2"/>
          <p:cNvSpPr>
            <a:spLocks noGrp="1"/>
          </p:cNvSpPr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2" name="connector-3"/>
          <p:cNvSpPr>
            <a:spLocks noGrp="1"/>
          </p:cNvSpPr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5905500" y="17335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Scaling point</a:t>
            </a:r>
            <a:endParaRPr sz="1125" b="1">
              <a:solidFill>
                <a:srgbClr val="334155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476625" y="3067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Security boundary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25" name="security-line"/>
          <p:cNvSpPr>
            <a:spLocks noGrp="1"/>
          </p:cNvSpPr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6" name="Presentation Points-panel"/>
          <p:cNvSpPr>
            <a:spLocks noGrp="1"/>
          </p:cNvSpPr>
          <p:nvPr/>
        </p:nvSpPr>
        <p:spPr>
          <a:xfrm>
            <a:off x="8039735" y="3467100"/>
            <a:ext cx="2381250" cy="3200400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Presentation Points-bar"/>
          <p:cNvSpPr>
            <a:spLocks noGrp="1"/>
          </p:cNvSpPr>
          <p:nvPr/>
        </p:nvSpPr>
        <p:spPr>
          <a:xfrm>
            <a:off x="8039735" y="3467100"/>
            <a:ext cx="238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220075" y="36099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Points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256270" y="3962400"/>
            <a:ext cx="20383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User → API → Backend → Database</a:t>
            </a:r>
            <a:endParaRPr lang="en-US" altLang="en-US" sz="135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Google Maps API for ETA &amp; routing</a:t>
            </a:r>
            <a:endParaRPr lang="en-US" altLang="en-US" sz="135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Google Cloud Platform (Cloud Run)</a:t>
            </a:r>
            <a:endParaRPr lang="en-US" altLang="en-US" sz="135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Cloud Firestore</a:t>
            </a:r>
            <a:endParaRPr lang="en-US" altLang="en-US" sz="135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Cloud Monitoring &amp; Logging</a:t>
            </a:r>
            <a:endParaRPr lang="en-US" altLang="en-US" sz="135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350" b="0">
                <a:solidFill>
                  <a:srgbClr val="172033"/>
                </a:solidFill>
              </a:rPr>
              <a:t>Auto-scales during emergency demand</a:t>
            </a:r>
            <a:endParaRPr lang="en-US" altLang="en-US" sz="1350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05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Service Model Responsibility Matrix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service model defines what we control and what cloud manages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matrix-h-0"/>
          <p:cNvSpPr>
            <a:spLocks noGrp="1"/>
          </p:cNvSpPr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00100" y="1971675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Service area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1" name="matrix-h-1"/>
          <p:cNvSpPr>
            <a:spLocks noGrp="1"/>
          </p:cNvSpPr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Model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3" name="matrix-h-2"/>
          <p:cNvSpPr>
            <a:spLocks noGrp="1"/>
          </p:cNvSpPr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Provider manages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5" name="matrix-h-3"/>
          <p:cNvSpPr>
            <a:spLocks noGrp="1"/>
          </p:cNvSpPr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Student team manages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7" name="matrix-h-4"/>
          <p:cNvSpPr>
            <a:spLocks noGrp="1"/>
          </p:cNvSpPr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Why this fits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9" name="matrix-0-0"/>
          <p:cNvSpPr>
            <a:spLocks noGrp="1"/>
          </p:cNvSpPr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Frontend hosting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21" name="matrix-0-1"/>
          <p:cNvSpPr>
            <a:spLocks noGrp="1"/>
          </p:cNvSpPr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 SaaS</a:t>
            </a:r>
            <a:endParaRPr lang="en-US"/>
          </a:p>
        </p:txBody>
      </p:sp>
      <p:sp>
        <p:nvSpPr>
          <p:cNvPr id="22" name="matrix-0-2"/>
          <p:cNvSpPr>
            <a:spLocks noGrp="1"/>
          </p:cNvSpPr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Hosting Platform</a:t>
            </a:r>
            <a:endParaRPr lang="en-US"/>
          </a:p>
        </p:txBody>
      </p:sp>
      <p:sp>
        <p:nvSpPr>
          <p:cNvPr id="23" name="matrix-0-3"/>
          <p:cNvSpPr>
            <a:spLocks noGrp="1"/>
          </p:cNvSpPr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UI &amp; User interface</a:t>
            </a:r>
            <a:endParaRPr lang="en-US"/>
          </a:p>
        </p:txBody>
      </p:sp>
      <p:sp>
        <p:nvSpPr>
          <p:cNvPr id="24" name="matrix-0-4"/>
          <p:cNvSpPr>
            <a:spLocks noGrp="1"/>
          </p:cNvSpPr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Easy Deployment</a:t>
            </a:r>
            <a:endParaRPr lang="en-US"/>
          </a:p>
        </p:txBody>
      </p:sp>
      <p:sp>
        <p:nvSpPr>
          <p:cNvPr id="25" name="matrix-1-0"/>
          <p:cNvSpPr>
            <a:spLocks noGrp="1"/>
          </p:cNvSpPr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Backend/API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27" name="matrix-1-1"/>
          <p:cNvSpPr>
            <a:spLocks noGrp="1"/>
          </p:cNvSpPr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 PaaS</a:t>
            </a:r>
            <a:endParaRPr lang="en-US"/>
          </a:p>
        </p:txBody>
      </p:sp>
      <p:sp>
        <p:nvSpPr>
          <p:cNvPr id="28" name="matrix-1-2"/>
          <p:cNvSpPr>
            <a:spLocks noGrp="1"/>
          </p:cNvSpPr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Runtime &amp; Scaling</a:t>
            </a:r>
            <a:endParaRPr lang="en-US"/>
          </a:p>
        </p:txBody>
      </p:sp>
      <p:sp>
        <p:nvSpPr>
          <p:cNvPr id="29" name="matrix-1-3"/>
          <p:cNvSpPr>
            <a:spLocks noGrp="1"/>
          </p:cNvSpPr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ETA &amp; severity logic</a:t>
            </a:r>
            <a:endParaRPr lang="en-US"/>
          </a:p>
        </p:txBody>
      </p:sp>
      <p:sp>
        <p:nvSpPr>
          <p:cNvPr id="30" name="matrix-1-4"/>
          <p:cNvSpPr>
            <a:spLocks noGrp="1"/>
          </p:cNvSpPr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Focus on Application</a:t>
            </a:r>
            <a:endParaRPr lang="en-US"/>
          </a:p>
        </p:txBody>
      </p:sp>
      <p:sp>
        <p:nvSpPr>
          <p:cNvPr id="31" name="matrix-2-0"/>
          <p:cNvSpPr>
            <a:spLocks noGrp="1"/>
          </p:cNvSpPr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Database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33" name="matrix-2-1"/>
          <p:cNvSpPr>
            <a:spLocks noGrp="1"/>
          </p:cNvSpPr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 PaaS</a:t>
            </a:r>
            <a:endParaRPr lang="en-US"/>
          </a:p>
        </p:txBody>
      </p:sp>
      <p:sp>
        <p:nvSpPr>
          <p:cNvPr id="34" name="matrix-2-2"/>
          <p:cNvSpPr>
            <a:spLocks noGrp="1"/>
          </p:cNvSpPr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Database service</a:t>
            </a:r>
            <a:endParaRPr lang="en-US"/>
          </a:p>
        </p:txBody>
      </p:sp>
      <p:sp>
        <p:nvSpPr>
          <p:cNvPr id="35" name="matrix-2-3"/>
          <p:cNvSpPr>
            <a:spLocks noGrp="1"/>
          </p:cNvSpPr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600"/>
              <a:t>Patient &amp; ambulance data</a:t>
            </a:r>
            <a:endParaRPr lang="en-US" sz="1600"/>
          </a:p>
        </p:txBody>
      </p:sp>
      <p:sp>
        <p:nvSpPr>
          <p:cNvPr id="36" name="matrix-2-4"/>
          <p:cNvSpPr>
            <a:spLocks noGrp="1"/>
          </p:cNvSpPr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Managed Database</a:t>
            </a:r>
            <a:endParaRPr lang="en-US"/>
          </a:p>
        </p:txBody>
      </p:sp>
      <p:sp>
        <p:nvSpPr>
          <p:cNvPr id="37" name="matrix-3-0"/>
          <p:cNvSpPr>
            <a:spLocks noGrp="1"/>
          </p:cNvSpPr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Storage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39" name="matrix-3-1"/>
          <p:cNvSpPr>
            <a:spLocks noGrp="1"/>
          </p:cNvSpPr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 IaaS</a:t>
            </a:r>
            <a:endParaRPr lang="en-US"/>
          </a:p>
        </p:txBody>
      </p:sp>
      <p:sp>
        <p:nvSpPr>
          <p:cNvPr id="40" name="matrix-3-2"/>
          <p:cNvSpPr>
            <a:spLocks noGrp="1"/>
          </p:cNvSpPr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Cloud Storage</a:t>
            </a:r>
            <a:endParaRPr lang="en-US"/>
          </a:p>
        </p:txBody>
      </p:sp>
      <p:sp>
        <p:nvSpPr>
          <p:cNvPr id="41" name="matrix-3-3"/>
          <p:cNvSpPr>
            <a:spLocks noGrp="1"/>
          </p:cNvSpPr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600"/>
              <a:t>Reports and documents</a:t>
            </a:r>
            <a:endParaRPr lang="en-US" sz="1600"/>
          </a:p>
        </p:txBody>
      </p:sp>
      <p:sp>
        <p:nvSpPr>
          <p:cNvPr id="42" name="matrix-3-4"/>
          <p:cNvSpPr>
            <a:spLocks noGrp="1"/>
          </p:cNvSpPr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Secure Storage</a:t>
            </a:r>
            <a:endParaRPr lang="en-US"/>
          </a:p>
        </p:txBody>
      </p:sp>
      <p:sp>
        <p:nvSpPr>
          <p:cNvPr id="43" name="matrix-4-0"/>
          <p:cNvSpPr>
            <a:spLocks noGrp="1"/>
          </p:cNvSpPr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Monitoring / logs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45" name="matrix-4-1"/>
          <p:cNvSpPr>
            <a:spLocks noGrp="1"/>
          </p:cNvSpPr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PaaS</a:t>
            </a:r>
            <a:endParaRPr lang="en-US"/>
          </a:p>
        </p:txBody>
      </p:sp>
      <p:sp>
        <p:nvSpPr>
          <p:cNvPr id="46" name="matrix-4-2"/>
          <p:cNvSpPr>
            <a:spLocks noGrp="1"/>
          </p:cNvSpPr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Monitoring Tools</a:t>
            </a:r>
            <a:endParaRPr lang="en-US"/>
          </a:p>
        </p:txBody>
      </p:sp>
      <p:sp>
        <p:nvSpPr>
          <p:cNvPr id="47" name="matrix-4-3"/>
          <p:cNvSpPr>
            <a:spLocks noGrp="1"/>
          </p:cNvSpPr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Performance Tracking</a:t>
            </a:r>
            <a:endParaRPr lang="en-US"/>
          </a:p>
        </p:txBody>
      </p:sp>
      <p:sp>
        <p:nvSpPr>
          <p:cNvPr id="48" name="matrix-4-4"/>
          <p:cNvSpPr>
            <a:spLocks noGrp="1"/>
          </p:cNvSpPr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Quick issue detection</a:t>
            </a:r>
            <a:endParaRPr lang="en-US"/>
          </a:p>
        </p:txBody>
      </p:sp>
      <p:sp>
        <p:nvSpPr>
          <p:cNvPr id="49" name="matrix-5-0"/>
          <p:cNvSpPr>
            <a:spLocks noGrp="1"/>
          </p:cNvSpPr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Security / IAM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51" name="matrix-5-1"/>
          <p:cNvSpPr>
            <a:spLocks noGrp="1"/>
          </p:cNvSpPr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    SaaS</a:t>
            </a:r>
            <a:endParaRPr lang="en-US"/>
          </a:p>
        </p:txBody>
      </p:sp>
      <p:sp>
        <p:nvSpPr>
          <p:cNvPr id="52" name="matrix-5-2"/>
          <p:cNvSpPr>
            <a:spLocks noGrp="1"/>
          </p:cNvSpPr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Authentication Service</a:t>
            </a:r>
            <a:endParaRPr lang="en-US"/>
          </a:p>
        </p:txBody>
      </p:sp>
      <p:sp>
        <p:nvSpPr>
          <p:cNvPr id="53" name="matrix-5-3"/>
          <p:cNvSpPr>
            <a:spLocks noGrp="1"/>
          </p:cNvSpPr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600"/>
              <a:t>User roles &amp; permissions</a:t>
            </a:r>
            <a:endParaRPr lang="en-US" sz="1600"/>
          </a:p>
        </p:txBody>
      </p:sp>
      <p:sp>
        <p:nvSpPr>
          <p:cNvPr id="54" name="matrix-5-4"/>
          <p:cNvSpPr>
            <a:spLocks noGrp="1"/>
          </p:cNvSpPr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Secure access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06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Data Flow and Analytics Pipeline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product data moves from user activity to useful insight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flow-0"/>
          <p:cNvSpPr>
            <a:spLocks noGrp="1"/>
          </p:cNvSpPr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1199515" y="16764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Collect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11" name="flow-line-0"/>
          <p:cNvSpPr>
            <a:spLocks noGrp="1"/>
          </p:cNvSpPr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2" name="flow-1"/>
          <p:cNvSpPr>
            <a:spLocks noGrp="1"/>
          </p:cNvSpPr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3181350" y="1628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Ingest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14" name="flow-line-1"/>
          <p:cNvSpPr>
            <a:spLocks noGrp="1"/>
          </p:cNvSpPr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flow-2"/>
          <p:cNvSpPr>
            <a:spLocks noGrp="1"/>
          </p:cNvSpPr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5162550" y="1628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Store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17" name="flow-line-2"/>
          <p:cNvSpPr>
            <a:spLocks noGrp="1"/>
          </p:cNvSpPr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8" name="flow-3"/>
          <p:cNvSpPr>
            <a:spLocks noGrp="1"/>
          </p:cNvSpPr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7143750" y="163068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Process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20" name="flow-line-3"/>
          <p:cNvSpPr>
            <a:spLocks noGrp="1"/>
          </p:cNvSpPr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1" name="flow-4"/>
          <p:cNvSpPr>
            <a:spLocks noGrp="1"/>
          </p:cNvSpPr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9124950" y="16764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Visualize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23" name="Data Requirements-panel"/>
          <p:cNvSpPr>
            <a:spLocks noGrp="1"/>
          </p:cNvSpPr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Data Requirements-bar"/>
          <p:cNvSpPr>
            <a:spLocks noGrp="1"/>
          </p:cNvSpPr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Data Requirements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Patient data, ambulance location, traffic data</a:t>
            </a:r>
            <a:endParaRPr lang="en-US" altLang="en-US" sz="1200" b="0">
              <a:solidFill>
                <a:srgbClr val="172033"/>
              </a:solidFill>
            </a:endParaRPr>
          </a:p>
        </p:txBody>
      </p:sp>
      <p:sp>
        <p:nvSpPr>
          <p:cNvPr id="27" name="Analytics Requirement-panel"/>
          <p:cNvSpPr>
            <a:spLocks noGrp="1"/>
          </p:cNvSpPr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Analytics Requirement-bar"/>
          <p:cNvSpPr>
            <a:spLocks noGrp="1"/>
          </p:cNvSpPr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Analytics Requirement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ETA prediction, priority ranking, dispatch alerts</a:t>
            </a:r>
            <a:endParaRPr lang="en-US" altLang="en-US" sz="1200" b="0">
              <a:solidFill>
                <a:srgbClr val="172033"/>
              </a:solidFill>
            </a:endParaRPr>
          </a:p>
        </p:txBody>
      </p:sp>
      <p:sp>
        <p:nvSpPr>
          <p:cNvPr id="31" name="Proof Required-panel"/>
          <p:cNvSpPr>
            <a:spLocks noGrp="1"/>
          </p:cNvSpPr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Proof Required-bar"/>
          <p:cNvSpPr>
            <a:spLocks noGrp="1"/>
          </p:cNvSpPr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Proof Required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1724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Sample dispatch result with ETA and severity score</a:t>
            </a:r>
            <a:endParaRPr lang="en-US" altLang="en-US" sz="1200" b="0">
              <a:solidFill>
                <a:srgbClr val="172033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987425" y="1912620"/>
            <a:ext cx="171767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900"/>
              <a:t>Patient details, GPS location, </a:t>
            </a:r>
            <a:endParaRPr sz="900"/>
          </a:p>
          <a:p>
            <a:r>
              <a:rPr sz="900"/>
              <a:t>ambulance status</a:t>
            </a:r>
            <a:endParaRPr sz="900"/>
          </a:p>
        </p:txBody>
      </p:sp>
      <p:sp>
        <p:nvSpPr>
          <p:cNvPr id="38" name="Text Box 37"/>
          <p:cNvSpPr txBox="1"/>
          <p:nvPr/>
        </p:nvSpPr>
        <p:spPr>
          <a:xfrm>
            <a:off x="3086100" y="1906270"/>
            <a:ext cx="122936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000"/>
              <a:t>Google Maps API +</a:t>
            </a:r>
            <a:endParaRPr sz="1000"/>
          </a:p>
          <a:p>
            <a:r>
              <a:rPr sz="1000"/>
              <a:t> Firebase</a:t>
            </a:r>
            <a:endParaRPr sz="1000"/>
          </a:p>
        </p:txBody>
      </p:sp>
      <p:sp>
        <p:nvSpPr>
          <p:cNvPr id="40" name="Text Box 39"/>
          <p:cNvSpPr txBox="1"/>
          <p:nvPr/>
        </p:nvSpPr>
        <p:spPr>
          <a:xfrm>
            <a:off x="5163185" y="1989455"/>
            <a:ext cx="1155065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000"/>
              <a:t>Cloud Firestore</a:t>
            </a:r>
            <a:endParaRPr sz="1000"/>
          </a:p>
        </p:txBody>
      </p:sp>
      <p:sp>
        <p:nvSpPr>
          <p:cNvPr id="41" name="Text Box 40"/>
          <p:cNvSpPr txBox="1"/>
          <p:nvPr/>
        </p:nvSpPr>
        <p:spPr>
          <a:xfrm>
            <a:off x="7095490" y="1863725"/>
            <a:ext cx="210883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200"/>
              <a:t>ETA &amp; Severity </a:t>
            </a:r>
            <a:endParaRPr sz="1200"/>
          </a:p>
          <a:p>
            <a:r>
              <a:rPr sz="1200"/>
              <a:t>Analytics</a:t>
            </a:r>
            <a:endParaRPr sz="1200"/>
          </a:p>
        </p:txBody>
      </p:sp>
      <p:sp>
        <p:nvSpPr>
          <p:cNvPr id="42" name="Text Box 41"/>
          <p:cNvSpPr txBox="1"/>
          <p:nvPr/>
        </p:nvSpPr>
        <p:spPr>
          <a:xfrm>
            <a:off x="9048750" y="2000250"/>
            <a:ext cx="1984375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000"/>
              <a:t>Dispatcher Dashboard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07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Python / AI Module Integration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Python or AI adds intelligence where the product needs it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Python Role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ETA prediction &amp; severity analysis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Input and Output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Input: Patient details, location, traffic data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Output: Priority score, ETA, best ambulance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Execution Point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Cloud Run / Flask API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Value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Faster and smarter ambulance dispatch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08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Security, Scalability, Privacy and Cost Design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Security, scale, privacy and cost shape the final design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Security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Firebase Authentication &amp; role-based access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Privacy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Encrypted patient data &amp; limited access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Scalability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Auto-scales during high emergency requests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Cost Awareness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Free-tier Firebase &amp; pay-as-you-use GCP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09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Implementation Stack and Deployment Evidence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implementation stack shows how the design will be built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Mobile / Web Layer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React Web Application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Services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GCP, Firebase, Google Maps API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Evidence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GitHub repository, API test, deployment URL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Version Control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GitHub (commits &amp; branches)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10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Storyboard and User Journey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 complete user journey proves the product flow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cene-0"/>
          <p:cNvSpPr>
            <a:spLocks noGrp="1"/>
          </p:cNvSpPr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1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sz="1165" b="0">
                <a:solidFill>
                  <a:srgbClr val="64748B"/>
                </a:solidFill>
              </a:rPr>
              <a:t>User action -&gt; system response -&gt; cloud component touched</a:t>
            </a:r>
            <a:endParaRPr sz="1165" b="0">
              <a:solidFill>
                <a:srgbClr val="64748B"/>
              </a:solidFill>
            </a:endParaRPr>
          </a:p>
        </p:txBody>
      </p:sp>
      <p:sp>
        <p:nvSpPr>
          <p:cNvPr id="12" name="scene-1"/>
          <p:cNvSpPr>
            <a:spLocks noGrp="1"/>
          </p:cNvSpPr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2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Patient severity calculated → Backend processes data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15" name="scene-2"/>
          <p:cNvSpPr>
            <a:spLocks noGrp="1"/>
          </p:cNvSpPr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3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Google Maps API estimates ETA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18" name="scene-3"/>
          <p:cNvSpPr>
            <a:spLocks noGrp="1"/>
          </p:cNvSpPr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4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Nearest ambulance selected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21" name="scene-4"/>
          <p:cNvSpPr>
            <a:spLocks noGrp="1"/>
          </p:cNvSpPr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5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Hospital &amp; ambulance receive notification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24" name="scene-5"/>
          <p:cNvSpPr>
            <a:spLocks noGrp="1"/>
          </p:cNvSpPr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Rectangle 24"/>
          <p:cNvSpPr>
            <a:spLocks noGrp="1"/>
          </p:cNvSpPr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6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Patient picked up → Dashboard updated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11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Evaluation Readiness Checklist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evidence confirms that the presentation is ready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check-0"/>
          <p:cNvSpPr>
            <a:spLocks noGrp="1"/>
          </p:cNvSpPr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0" name="box-0"/>
          <p:cNvSpPr>
            <a:spLocks noGrp="1"/>
          </p:cNvSpPr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Cloud ecosystem and service model explained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2" name="check-1"/>
          <p:cNvSpPr>
            <a:spLocks noGrp="1"/>
          </p:cNvSpPr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3" name="box-1"/>
          <p:cNvSpPr>
            <a:spLocks noGrp="1"/>
          </p:cNvSpPr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REST/SOAP/API role connected to capstone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5" name="check-2"/>
          <p:cNvSpPr>
            <a:spLocks noGrp="1"/>
          </p:cNvSpPr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6" name="box-2"/>
          <p:cNvSpPr>
            <a:spLocks noGrp="1"/>
          </p:cNvSpPr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Architecture has compute, data, storage, security, monitoring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8" name="check-3"/>
          <p:cNvSpPr>
            <a:spLocks noGrp="1"/>
          </p:cNvSpPr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9" name="box-3"/>
          <p:cNvSpPr>
            <a:spLocks noGrp="1"/>
          </p:cNvSpPr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Elasticity and scalability decisions are visible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1" name="check-4"/>
          <p:cNvSpPr>
            <a:spLocks noGrp="1"/>
          </p:cNvSpPr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2" name="box-4"/>
          <p:cNvSpPr>
            <a:spLocks noGrp="1"/>
          </p:cNvSpPr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GitHub and cloud evidence are inspectable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4" name="check-5"/>
          <p:cNvSpPr>
            <a:spLocks noGrp="1"/>
          </p:cNvSpPr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5" name="box-5"/>
          <p:cNvSpPr>
            <a:spLocks noGrp="1"/>
          </p:cNvSpPr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References and integrity statement are included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7" name="Evaluator Focus-panel"/>
          <p:cNvSpPr>
            <a:spLocks noGrp="1"/>
          </p:cNvSpPr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Evaluator Focus-bar"/>
          <p:cNvSpPr>
            <a:spLocks noGrp="1"/>
          </p:cNvSpPr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266950" y="51435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Evaluator Focus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266950" y="5524500"/>
            <a:ext cx="76581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CO1 is verified through cloud design reasoning, service choices, evidence, and individual explanation.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1055370" y="1792605"/>
            <a:ext cx="1158875" cy="60452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1600"/>
              <a:t>✅</a:t>
            </a:r>
            <a:endParaRPr sz="1600"/>
          </a:p>
        </p:txBody>
      </p:sp>
      <p:sp>
        <p:nvSpPr>
          <p:cNvPr id="36" name="Text Box 35"/>
          <p:cNvSpPr txBox="1"/>
          <p:nvPr/>
        </p:nvSpPr>
        <p:spPr>
          <a:xfrm>
            <a:off x="1127125" y="28952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✅</a:t>
            </a:r>
            <a:endParaRPr sz="1600"/>
          </a:p>
        </p:txBody>
      </p:sp>
      <p:sp>
        <p:nvSpPr>
          <p:cNvPr id="37" name="Text Box 36"/>
          <p:cNvSpPr txBox="1"/>
          <p:nvPr/>
        </p:nvSpPr>
        <p:spPr>
          <a:xfrm>
            <a:off x="1055370" y="39690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✅</a:t>
            </a:r>
            <a:endParaRPr sz="1600"/>
          </a:p>
        </p:txBody>
      </p:sp>
      <p:sp>
        <p:nvSpPr>
          <p:cNvPr id="38" name="Text Box 37"/>
          <p:cNvSpPr txBox="1"/>
          <p:nvPr/>
        </p:nvSpPr>
        <p:spPr>
          <a:xfrm>
            <a:off x="6743700" y="1834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✅</a:t>
            </a:r>
            <a:endParaRPr sz="1600"/>
          </a:p>
        </p:txBody>
      </p:sp>
      <p:sp>
        <p:nvSpPr>
          <p:cNvPr id="39" name="Text Box 38"/>
          <p:cNvSpPr txBox="1"/>
          <p:nvPr/>
        </p:nvSpPr>
        <p:spPr>
          <a:xfrm>
            <a:off x="6743700" y="28381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✅</a:t>
            </a:r>
            <a:endParaRPr sz="1600"/>
          </a:p>
        </p:txBody>
      </p:sp>
      <p:sp>
        <p:nvSpPr>
          <p:cNvPr id="40" name="Text Box 39"/>
          <p:cNvSpPr txBox="1"/>
          <p:nvPr/>
        </p:nvSpPr>
        <p:spPr>
          <a:xfrm>
            <a:off x="6762750" y="39690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✅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Conclusion, Limitations and Future Scope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 close with learning, limitations and next steps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Learning Outcome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Applied cloud computing for real-time ambulance dispatch.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Limitations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Depends on internet connectivity and live traffic accuracy.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Future Improvement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AI-based ambulance demand prediction and IoT ambulance tracking.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Integrity Statement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12535" y="37528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Developed using Google Cloud, Firebase, Google Maps API, Python, and React. AI assistance (ChatGPT) was used only for guidance and content refinement.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7157</Words>
  <Application>WPS Presentation</Application>
  <PresentationFormat>Converted Presentation</PresentationFormat>
  <Paragraphs>420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Google Sans</vt:lpstr>
      <vt:lpstr>Segoe Print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Dr. C. Rajesh Babu</dc:creator>
  <cp:keywords>CSA15; Cloud Computing and Big Data Analytics; Dr. C. Rajesh Babu; SSETSCS-415</cp:keywords>
  <dc:subject>Owner: Dr. C. Rajesh Babu; Employee ID: SSETSCS-415</dc:subject>
  <cp:lastModifiedBy>Rahima Banu</cp:lastModifiedBy>
  <cp:revision>1</cp:revision>
  <dcterms:created xsi:type="dcterms:W3CDTF">2026-07-17T06:08:19Z</dcterms:created>
  <dcterms:modified xsi:type="dcterms:W3CDTF">2026-07-17T06:08:19Z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3671BAE7488F4BF49B779656A49E0745_12</vt:lpwstr>
  </property>
</Properties>
</file>